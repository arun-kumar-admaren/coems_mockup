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HSEQ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 ·  Claims  ·  Incidents  ·  Insurance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9516" y="4160520"/>
            <a:ext cx="1664208" cy="4023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" y="41605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Trigger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9172" y="4160520"/>
            <a:ext cx="1664208" cy="40233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9172" y="41605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HSEQ / Safety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8828" y="4160520"/>
            <a:ext cx="1664208" cy="402336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8828" y="41605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Activation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58484" y="4160520"/>
            <a:ext cx="166420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8484" y="41605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78140" y="4160520"/>
            <a:ext cx="1664208" cy="402336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8140" y="41605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97796" y="4160520"/>
            <a:ext cx="1664208" cy="402336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97796" y="41605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/ Closed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COEMS  ·  Admaren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Incident — Parallel Response Tracks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51960" y="658368"/>
            <a:ext cx="3657600" cy="594360"/>
          </a:xfrm>
          <a:prstGeom prst="rect">
            <a:avLst/>
          </a:prstGeom>
          <a:solidFill>
            <a:srgbClr val="FF6600"/>
          </a:solidFill>
          <a:ln w="25400">
            <a:solidFill>
              <a:srgbClr val="CC44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51960" y="658368"/>
            <a:ext cx="365760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INCIDENT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51960" y="955548"/>
            <a:ext cx="3657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 ·  Cargo Damage  ·  Crew Injury  ·  Environmental  ·  Security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080760" y="1252728"/>
            <a:ext cx="0" cy="82296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1335024"/>
            <a:ext cx="8156448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2536" y="1335024"/>
            <a:ext cx="0" cy="82296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335024"/>
            <a:ext cx="0" cy="82296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1335024"/>
            <a:ext cx="0" cy="82296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417320"/>
            <a:ext cx="3547872" cy="34747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41732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HSEQ / Safety Management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1847088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847088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84708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Reports to DPA (24-72 hrs)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02536" y="2231136"/>
            <a:ext cx="0" cy="4572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276856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276856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27685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/ Ship Manager Notified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02536" y="2660904"/>
            <a:ext cx="0" cy="4572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706624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706624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7066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Activated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02536" y="3090672"/>
            <a:ext cx="0" cy="4572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136392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136392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313639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/ Port State Notified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02536" y="3520440"/>
            <a:ext cx="0" cy="4572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566160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566160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35661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(Internal + External)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02536" y="3950208"/>
            <a:ext cx="0" cy="4572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995928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995928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39959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(RCA)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02536" y="4379976"/>
            <a:ext cx="0" cy="4572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4425696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4425696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" y="442569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Plan (CAP)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02536" y="4809744"/>
            <a:ext cx="0" cy="4572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4855464"/>
            <a:ext cx="3547872" cy="384048"/>
          </a:xfrm>
          <a:prstGeom prst="rect">
            <a:avLst/>
          </a:prstGeom>
          <a:solidFill>
            <a:srgbClr val="D6E8FF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855464"/>
            <a:ext cx="54864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485546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HSEQ Records &amp; Lessons Learned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02536" y="5239512"/>
            <a:ext cx="0" cy="201168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06824" y="1417320"/>
            <a:ext cx="3547872" cy="347472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06824" y="141732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Insurance Activation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06824" y="1847088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06824" y="1847088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16552" y="184708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 Club / H&amp;M Insurer Notified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0760" y="2231136"/>
            <a:ext cx="0" cy="45720"/>
          </a:xfrm>
          <a:prstGeom prst="line">
            <a:avLst/>
          </a:prstGeom>
          <a:noFill/>
          <a:ln w="12700">
            <a:solidFill>
              <a:srgbClr val="003D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06824" y="2276856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06824" y="2276856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16552" y="227685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Engaged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80760" y="2660904"/>
            <a:ext cx="0" cy="45720"/>
          </a:xfrm>
          <a:prstGeom prst="line">
            <a:avLst/>
          </a:prstGeom>
          <a:noFill/>
          <a:ln w="12700">
            <a:solidFill>
              <a:srgbClr val="003D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06824" y="2706624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06824" y="2706624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16552" y="27066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Correspondent Appointed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80760" y="3090672"/>
            <a:ext cx="0" cy="45720"/>
          </a:xfrm>
          <a:prstGeom prst="line">
            <a:avLst/>
          </a:prstGeom>
          <a:noFill/>
          <a:ln w="12700">
            <a:solidFill>
              <a:srgbClr val="003D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06824" y="3136392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06824" y="3136392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16552" y="313639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Surveyor Dispatched to Vessel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80760" y="3520440"/>
            <a:ext cx="0" cy="45720"/>
          </a:xfrm>
          <a:prstGeom prst="line">
            <a:avLst/>
          </a:prstGeom>
          <a:noFill/>
          <a:ln w="12700">
            <a:solidFill>
              <a:srgbClr val="003D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06824" y="3566160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06824" y="3566160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16552" y="35661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Report Prepared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80760" y="3950208"/>
            <a:ext cx="0" cy="45720"/>
          </a:xfrm>
          <a:prstGeom prst="line">
            <a:avLst/>
          </a:prstGeom>
          <a:noFill/>
          <a:ln w="12700">
            <a:solidFill>
              <a:srgbClr val="003D9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306824" y="3995928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06824" y="3995928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16552" y="39959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File Opened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080760" y="4379976"/>
            <a:ext cx="0" cy="45720"/>
          </a:xfrm>
          <a:prstGeom prst="line">
            <a:avLst/>
          </a:prstGeom>
          <a:noFill/>
          <a:ln w="12700">
            <a:solidFill>
              <a:srgbClr val="003D9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06824" y="4425696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06824" y="4425696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16552" y="442569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Assessment by Adjuster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80760" y="4809744"/>
            <a:ext cx="0" cy="45720"/>
          </a:xfrm>
          <a:prstGeom prst="line">
            <a:avLst/>
          </a:prstGeom>
          <a:noFill/>
          <a:ln w="12700">
            <a:solidFill>
              <a:srgbClr val="003D9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06824" y="4855464"/>
            <a:ext cx="3547872" cy="384048"/>
          </a:xfrm>
          <a:prstGeom prst="rect">
            <a:avLst/>
          </a:prstGeom>
          <a:solidFill>
            <a:srgbClr val="CCE5FF"/>
          </a:solidFill>
          <a:ln w="9525">
            <a:solidFill>
              <a:srgbClr val="003D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06824" y="4855464"/>
            <a:ext cx="54864" cy="38404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16552" y="485546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Negotiation Initiated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080760" y="5239512"/>
            <a:ext cx="0" cy="201168"/>
          </a:xfrm>
          <a:prstGeom prst="line">
            <a:avLst/>
          </a:prstGeom>
          <a:noFill/>
          <a:ln w="19050">
            <a:solidFill>
              <a:srgbClr val="003D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85048" y="1417320"/>
            <a:ext cx="354787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85048" y="141732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— Claims Management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385048" y="1847088"/>
            <a:ext cx="3547872" cy="384048"/>
          </a:xfrm>
          <a:prstGeom prst="rect">
            <a:avLst/>
          </a:prstGeom>
          <a:solidFill>
            <a:srgbClr val="CCE8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85048" y="1847088"/>
            <a:ext cx="548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94776" y="184708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Damage (H&amp;M) / 3rd Party (P&amp;I)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0158984" y="2231136"/>
            <a:ext cx="0" cy="457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85048" y="2276856"/>
            <a:ext cx="3547872" cy="384048"/>
          </a:xfrm>
          <a:prstGeom prst="rect">
            <a:avLst/>
          </a:prstGeom>
          <a:solidFill>
            <a:srgbClr val="CCE8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85048" y="2276856"/>
            <a:ext cx="548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94776" y="227685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 /  Demand Received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0158984" y="2660904"/>
            <a:ext cx="0" cy="457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85048" y="2706624"/>
            <a:ext cx="3547872" cy="384048"/>
          </a:xfrm>
          <a:prstGeom prst="rect">
            <a:avLst/>
          </a:prstGeom>
          <a:solidFill>
            <a:srgbClr val="CCE8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85048" y="2706624"/>
            <a:ext cx="548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94776" y="27066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Estimate  /  Liability Assessed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0158984" y="3090672"/>
            <a:ext cx="0" cy="457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385048" y="3136392"/>
            <a:ext cx="3547872" cy="384048"/>
          </a:xfrm>
          <a:prstGeom prst="rect">
            <a:avLst/>
          </a:prstGeom>
          <a:solidFill>
            <a:srgbClr val="CCE8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85048" y="3136392"/>
            <a:ext cx="548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494776" y="313639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Adjuster  /  W-P Negotiation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0158984" y="3520440"/>
            <a:ext cx="0" cy="457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385048" y="3566160"/>
            <a:ext cx="3547872" cy="384048"/>
          </a:xfrm>
          <a:prstGeom prst="rect">
            <a:avLst/>
          </a:prstGeom>
          <a:solidFill>
            <a:srgbClr val="FFF3CD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385048" y="3566160"/>
            <a:ext cx="548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94776" y="35661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Reached  OR  Dispute?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158984" y="3950208"/>
            <a:ext cx="0" cy="20116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8600" y="653796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on next slide — Resolution &amp; Legal Escalation Paths  →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Paths — Settlement &amp; Legal Escalation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51960" y="694944"/>
            <a:ext cx="3657600" cy="566928"/>
          </a:xfrm>
          <a:prstGeom prst="rect">
            <a:avLst/>
          </a:prstGeom>
          <a:solidFill>
            <a:srgbClr val="FF8C00"/>
          </a:solidFill>
          <a:ln w="25400">
            <a:solidFill>
              <a:srgbClr val="FF66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51960" y="694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 OR  LEGAL DISPUTE?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694944"/>
            <a:ext cx="3794760" cy="566928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9494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SETTLEMENT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978408"/>
            <a:ext cx="228600" cy="0"/>
          </a:xfrm>
          <a:prstGeom prst="line">
            <a:avLst/>
          </a:prstGeom>
          <a:noFill/>
          <a:ln w="19050">
            <a:solidFill>
              <a:srgbClr val="00A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0792" y="813816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00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AGREED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" y="1463040"/>
            <a:ext cx="3794760" cy="420624"/>
          </a:xfrm>
          <a:prstGeom prst="rect">
            <a:avLst/>
          </a:prstGeom>
          <a:solidFill>
            <a:srgbClr val="D4EDDA"/>
          </a:solidFill>
          <a:ln w="9525">
            <a:solidFill>
              <a:srgbClr val="00A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54864" cy="420624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630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Terms Agreed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25980" y="1883664"/>
            <a:ext cx="0" cy="54864"/>
          </a:xfrm>
          <a:prstGeom prst="line">
            <a:avLst/>
          </a:prstGeom>
          <a:noFill/>
          <a:ln w="12700">
            <a:solidFill>
              <a:srgbClr val="00A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38528"/>
            <a:ext cx="3794760" cy="420624"/>
          </a:xfrm>
          <a:prstGeom prst="rect">
            <a:avLst/>
          </a:prstGeom>
          <a:solidFill>
            <a:srgbClr val="D4EDDA"/>
          </a:solidFill>
          <a:ln w="9525">
            <a:solidFill>
              <a:srgbClr val="00A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938528"/>
            <a:ext cx="54864" cy="420624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9385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Accounts Prepared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25980" y="2359152"/>
            <a:ext cx="0" cy="54864"/>
          </a:xfrm>
          <a:prstGeom prst="line">
            <a:avLst/>
          </a:prstGeom>
          <a:noFill/>
          <a:ln w="12700">
            <a:solidFill>
              <a:srgbClr val="00A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414016"/>
            <a:ext cx="3794760" cy="420624"/>
          </a:xfrm>
          <a:prstGeom prst="rect">
            <a:avLst/>
          </a:prstGeom>
          <a:solidFill>
            <a:srgbClr val="D4EDDA"/>
          </a:solidFill>
          <a:ln w="9525">
            <a:solidFill>
              <a:srgbClr val="00A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414016"/>
            <a:ext cx="54864" cy="420624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41401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 Club / H&amp;M Insurer Issues Payment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25980" y="2834640"/>
            <a:ext cx="0" cy="54864"/>
          </a:xfrm>
          <a:prstGeom prst="line">
            <a:avLst/>
          </a:prstGeom>
          <a:noFill/>
          <a:ln w="12700">
            <a:solidFill>
              <a:srgbClr val="00A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889504"/>
            <a:ext cx="3794760" cy="420624"/>
          </a:xfrm>
          <a:prstGeom prst="rect">
            <a:avLst/>
          </a:prstGeom>
          <a:solidFill>
            <a:srgbClr val="D4EDDA"/>
          </a:solidFill>
          <a:ln w="9525">
            <a:solidFill>
              <a:srgbClr val="00A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889504"/>
            <a:ext cx="54864" cy="420624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8895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Discharge Signed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25980" y="3310128"/>
            <a:ext cx="0" cy="54864"/>
          </a:xfrm>
          <a:prstGeom prst="line">
            <a:avLst/>
          </a:prstGeom>
          <a:noFill/>
          <a:ln w="12700">
            <a:solidFill>
              <a:srgbClr val="00A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364992"/>
            <a:ext cx="3794760" cy="420624"/>
          </a:xfrm>
          <a:prstGeom prst="rect">
            <a:avLst/>
          </a:prstGeom>
          <a:solidFill>
            <a:srgbClr val="D4EDDA"/>
          </a:solidFill>
          <a:ln w="9525">
            <a:solidFill>
              <a:srgbClr val="00A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364992"/>
            <a:ext cx="54864" cy="420624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336499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File Closed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25980" y="3785616"/>
            <a:ext cx="0" cy="109728"/>
          </a:xfrm>
          <a:prstGeom prst="line">
            <a:avLst/>
          </a:prstGeom>
          <a:noFill/>
          <a:ln w="19050">
            <a:solidFill>
              <a:srgbClr val="00A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895344"/>
            <a:ext cx="3794760" cy="475488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" y="3895344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75320" y="694944"/>
            <a:ext cx="3657600" cy="566928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694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— LEGAL ESCALATION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09560" y="978408"/>
            <a:ext cx="365760" cy="0"/>
          </a:xfrm>
          <a:prstGeom prst="line">
            <a:avLst/>
          </a:prstGeom>
          <a:noFill/>
          <a:ln w="19050">
            <a:solidFill>
              <a:srgbClr val="CC4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36992" y="813816"/>
            <a:ext cx="310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275320" y="1463040"/>
            <a:ext cx="3657600" cy="420624"/>
          </a:xfrm>
          <a:prstGeom prst="rect">
            <a:avLst/>
          </a:prstGeom>
          <a:solidFill>
            <a:srgbClr val="FFE8D0"/>
          </a:solidFill>
          <a:ln w="9525">
            <a:solidFill>
              <a:srgbClr val="CC44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1463040"/>
            <a:ext cx="54864" cy="42062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14630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Undertaking (LOU) Posted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1883664"/>
            <a:ext cx="0" cy="54864"/>
          </a:xfrm>
          <a:prstGeom prst="line">
            <a:avLst/>
          </a:prstGeom>
          <a:noFill/>
          <a:ln w="12700">
            <a:solidFill>
              <a:srgbClr val="CC44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1938528"/>
            <a:ext cx="3657600" cy="420624"/>
          </a:xfrm>
          <a:prstGeom prst="rect">
            <a:avLst/>
          </a:prstGeom>
          <a:solidFill>
            <a:srgbClr val="FFE8D0"/>
          </a:solidFill>
          <a:ln w="9525">
            <a:solidFill>
              <a:srgbClr val="CC44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1938528"/>
            <a:ext cx="54864" cy="42062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85048" y="19385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Without-Prejudice Negotiations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104120" y="2359152"/>
            <a:ext cx="0" cy="54864"/>
          </a:xfrm>
          <a:prstGeom prst="line">
            <a:avLst/>
          </a:prstGeom>
          <a:noFill/>
          <a:ln w="12700">
            <a:solidFill>
              <a:srgbClr val="CC44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75320" y="2414016"/>
            <a:ext cx="3657600" cy="420624"/>
          </a:xfrm>
          <a:prstGeom prst="rect">
            <a:avLst/>
          </a:prstGeom>
          <a:solidFill>
            <a:srgbClr val="FFE8D0"/>
          </a:solidFill>
          <a:ln w="9525">
            <a:solidFill>
              <a:srgbClr val="CC44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5320" y="2414016"/>
            <a:ext cx="54864" cy="42062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5048" y="24140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(London / Singapore / NY)  OR  Litigation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104120" y="2834640"/>
            <a:ext cx="0" cy="54864"/>
          </a:xfrm>
          <a:prstGeom prst="line">
            <a:avLst/>
          </a:prstGeom>
          <a:noFill/>
          <a:ln w="12700">
            <a:solidFill>
              <a:srgbClr val="CC44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2889504"/>
            <a:ext cx="3657600" cy="420624"/>
          </a:xfrm>
          <a:prstGeom prst="rect">
            <a:avLst/>
          </a:prstGeom>
          <a:solidFill>
            <a:srgbClr val="FFE8D0"/>
          </a:solidFill>
          <a:ln w="9525">
            <a:solidFill>
              <a:srgbClr val="CC44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75320" y="2889504"/>
            <a:ext cx="54864" cy="42062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85048" y="288950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/ Trial Proceedings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104120" y="3310128"/>
            <a:ext cx="0" cy="54864"/>
          </a:xfrm>
          <a:prstGeom prst="line">
            <a:avLst/>
          </a:prstGeom>
          <a:noFill/>
          <a:ln w="12700">
            <a:solidFill>
              <a:srgbClr val="CC44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75320" y="3364992"/>
            <a:ext cx="3657600" cy="420624"/>
          </a:xfrm>
          <a:prstGeom prst="rect">
            <a:avLst/>
          </a:prstGeom>
          <a:solidFill>
            <a:srgbClr val="FFE8D0"/>
          </a:solidFill>
          <a:ln w="9525">
            <a:solidFill>
              <a:srgbClr val="CC44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75320" y="3364992"/>
            <a:ext cx="54864" cy="42062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85048" y="33649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/ Judgment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104120" y="3785616"/>
            <a:ext cx="0" cy="54864"/>
          </a:xfrm>
          <a:prstGeom prst="line">
            <a:avLst/>
          </a:prstGeom>
          <a:noFill/>
          <a:ln w="12700">
            <a:solidFill>
              <a:srgbClr val="CC44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75320" y="3840480"/>
            <a:ext cx="3657600" cy="420624"/>
          </a:xfrm>
          <a:prstGeom prst="rect">
            <a:avLst/>
          </a:prstGeom>
          <a:solidFill>
            <a:srgbClr val="FFE8D0"/>
          </a:solidFill>
          <a:ln w="9525">
            <a:solidFill>
              <a:srgbClr val="CC44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75320" y="3840480"/>
            <a:ext cx="54864" cy="42062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85048" y="38404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of Award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104120" y="4261104"/>
            <a:ext cx="0" cy="109728"/>
          </a:xfrm>
          <a:prstGeom prst="line">
            <a:avLst/>
          </a:prstGeom>
          <a:noFill/>
          <a:ln w="19050">
            <a:solidFill>
              <a:srgbClr val="CC44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75320" y="4370832"/>
            <a:ext cx="3657600" cy="475488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275320" y="4370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2026-05-26T14:06:57Z</dcterms:created>
  <dcterms:modified xsi:type="dcterms:W3CDTF">2026-05-26T14:06:57Z</dcterms:modified>
</cp:coreProperties>
</file>